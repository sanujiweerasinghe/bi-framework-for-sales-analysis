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8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2AECED-68A6-42D7-468F-6273CBB67FC3}" v="107" dt="2025-09-01T03:16:00.893"/>
    <p1510:client id="{4D68C733-34E7-7003-D32A-53C368732045}" v="1" dt="2025-08-30T23:10:40.977"/>
    <p1510:client id="{75309D1A-5922-ED81-678A-98E086149FB9}" v="114" dt="2025-08-30T11:03:14.797"/>
    <p1510:client id="{C39C8FE9-D417-5B82-A0CB-E39E0EA14010}" v="731" dt="2025-08-30T15:21:17.3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33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4000" dirty="0"/>
              <a:t>Business Intelligence Framework</a:t>
            </a:r>
            <a:endParaRPr lang="en-US" sz="4000" dirty="0">
              <a:ea typeface="Calibri"/>
              <a:cs typeface="Calibri"/>
            </a:endParaRPr>
          </a:p>
          <a:p>
            <a:r>
              <a:rPr sz="4000" dirty="0"/>
              <a:t>for Sales Performance</a:t>
            </a:r>
            <a:endParaRPr sz="4000" dirty="0">
              <a:ea typeface="Calibri"/>
              <a:cs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3374" y="3900577"/>
            <a:ext cx="7622875" cy="1752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rPr sz="2800" dirty="0"/>
              <a:t>Large Restaurant Chain – Dine-in, Pick-up, 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804" y="1469"/>
            <a:ext cx="8229600" cy="1143000"/>
          </a:xfrm>
        </p:spPr>
        <p:txBody>
          <a:bodyPr>
            <a:normAutofit/>
          </a:bodyPr>
          <a:lstStyle/>
          <a:p>
            <a:r>
              <a:rPr sz="4000" dirty="0"/>
              <a:t>Introduction</a:t>
            </a:r>
            <a:endParaRPr lang="en-US" sz="4000" dirty="0"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654" y="1312653"/>
            <a:ext cx="8977222" cy="554675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defRPr sz="2000"/>
            </a:pPr>
            <a:r>
              <a:rPr sz="2800" b="1" dirty="0">
                <a:solidFill>
                  <a:schemeClr val="tx2"/>
                </a:solidFill>
              </a:rPr>
              <a:t>Challenges faced by restaurant chains</a:t>
            </a:r>
            <a:r>
              <a:rPr sz="2800" dirty="0"/>
              <a:t>:</a:t>
            </a:r>
            <a:endParaRPr lang="en-US" sz="2800" dirty="0">
              <a:ea typeface="Calibri"/>
              <a:cs typeface="Calibri"/>
            </a:endParaRPr>
          </a:p>
          <a:p>
            <a:pPr marL="0" indent="0">
              <a:buNone/>
              <a:defRPr sz="2000"/>
            </a:pPr>
            <a:r>
              <a:rPr lang="en-US" sz="2800" dirty="0">
                <a:ea typeface="+mn-lt"/>
                <a:cs typeface="+mn-lt"/>
              </a:rPr>
              <a:t>  </a:t>
            </a:r>
            <a:r>
              <a:rPr lang="en-US" sz="2400" dirty="0">
                <a:ea typeface="+mn-lt"/>
                <a:cs typeface="+mn-lt"/>
              </a:rPr>
              <a:t>  -Monitor sales in real time across branches</a:t>
            </a:r>
          </a:p>
          <a:p>
            <a:pPr marL="0" indent="0">
              <a:buNone/>
              <a:defRPr sz="2000"/>
            </a:pPr>
            <a:r>
              <a:rPr lang="en-US" sz="2400" dirty="0">
                <a:ea typeface="+mn-lt"/>
                <a:cs typeface="+mn-lt"/>
              </a:rPr>
              <a:t>     -Customer demand changes suddenly (busy hours, holidays)</a:t>
            </a:r>
          </a:p>
          <a:p>
            <a:pPr marL="0" indent="0">
              <a:buNone/>
              <a:defRPr sz="2000"/>
            </a:pPr>
            <a:r>
              <a:rPr lang="en-US" sz="2400" dirty="0">
                <a:ea typeface="+mn-lt"/>
                <a:cs typeface="+mn-lt"/>
              </a:rPr>
              <a:t>     -Delivery delays from traffic or bad weather</a:t>
            </a:r>
          </a:p>
          <a:p>
            <a:pPr marL="0" indent="0">
              <a:buNone/>
              <a:defRPr sz="2000"/>
            </a:pPr>
            <a:r>
              <a:rPr lang="en-US" sz="2400" dirty="0">
                <a:ea typeface="+mn-lt"/>
                <a:cs typeface="+mn-lt"/>
              </a:rPr>
              <a:t>     -Higher food costs and wastage</a:t>
            </a:r>
          </a:p>
          <a:p>
            <a:pPr marL="0" indent="0">
              <a:buNone/>
              <a:defRPr sz="2000"/>
            </a:pPr>
            <a:r>
              <a:rPr lang="en-US" sz="2400" dirty="0">
                <a:ea typeface="+mn-lt"/>
                <a:cs typeface="+mn-lt"/>
              </a:rPr>
              <a:t>     -Competitor offers reduce sales</a:t>
            </a:r>
          </a:p>
          <a:p>
            <a:pPr marL="0" indent="0">
              <a:buNone/>
              <a:defRPr sz="2000"/>
            </a:pPr>
            <a:endParaRPr lang="en-US" sz="2800" dirty="0">
              <a:ea typeface="Calibri"/>
              <a:cs typeface="Calibri"/>
            </a:endParaRPr>
          </a:p>
          <a:p>
            <a:pPr>
              <a:defRPr sz="2000"/>
            </a:pPr>
            <a:r>
              <a:rPr sz="2800" b="1" dirty="0">
                <a:solidFill>
                  <a:schemeClr val="tx2"/>
                </a:solidFill>
              </a:rPr>
              <a:t>Solution: </a:t>
            </a:r>
            <a:r>
              <a:rPr sz="2400" dirty="0"/>
              <a:t>Business Intelligence (BI) framework to integrate data and provide insights</a:t>
            </a:r>
            <a:endParaRPr lang="en-US" sz="2400">
              <a:ea typeface="Calibri"/>
              <a:cs typeface="Calibri"/>
            </a:endParaRPr>
          </a:p>
          <a:p>
            <a:pPr>
              <a:defRPr sz="2000"/>
            </a:pPr>
            <a:r>
              <a:rPr lang="en-US" sz="2800" b="1" dirty="0">
                <a:solidFill>
                  <a:schemeClr val="tx2"/>
                </a:solidFill>
                <a:ea typeface="Calibri"/>
                <a:cs typeface="Calibri"/>
              </a:rPr>
              <a:t>Goal:</a:t>
            </a:r>
            <a:r>
              <a:rPr lang="en-US" sz="2400" b="1" dirty="0">
                <a:solidFill>
                  <a:schemeClr val="tx2"/>
                </a:solidFill>
                <a:ea typeface="Calibri"/>
                <a:cs typeface="Calibri"/>
              </a:rPr>
              <a:t> </a:t>
            </a: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</a:rPr>
              <a:t>Provide insights via dashboards &amp; OLAP cubes for better decisions</a:t>
            </a:r>
            <a:endParaRPr lang="en-US" sz="2400">
              <a:solidFill>
                <a:srgbClr val="3C3C3C"/>
              </a:solidFill>
              <a:ea typeface="Calibri"/>
              <a:cs typeface="Calibri"/>
            </a:endParaRPr>
          </a:p>
          <a:p>
            <a:pPr>
              <a:defRPr sz="2000"/>
            </a:pPr>
            <a:endParaRPr sz="28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Objectives</a:t>
            </a:r>
            <a:endParaRPr lang="en-US" sz="4000" dirty="0"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875" y="2290313"/>
            <a:ext cx="9149751" cy="274317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 sz="2000"/>
            </a:pPr>
            <a:r>
              <a:rPr sz="2600" dirty="0"/>
              <a:t>Improve service efficiency (reduce delivery time, improve order handling)</a:t>
            </a:r>
            <a:endParaRPr lang="en-US" sz="2600">
              <a:ea typeface="Calibri"/>
              <a:cs typeface="Calibri"/>
            </a:endParaRPr>
          </a:p>
          <a:p>
            <a:pPr>
              <a:defRPr sz="2000"/>
            </a:pPr>
            <a:r>
              <a:rPr lang="en-US" sz="2600" dirty="0"/>
              <a:t>I</a:t>
            </a:r>
            <a:r>
              <a:rPr sz="2600" dirty="0"/>
              <a:t>ncrease profit margins (reduce wastage, optimize pricing)</a:t>
            </a:r>
            <a:endParaRPr sz="2600">
              <a:ea typeface="Calibri"/>
              <a:cs typeface="Calibri"/>
            </a:endParaRPr>
          </a:p>
          <a:p>
            <a:pPr>
              <a:defRPr sz="2000"/>
            </a:pPr>
            <a:r>
              <a:rPr sz="2600" dirty="0"/>
              <a:t>Enhance competitiveness (monitor competitor performance)</a:t>
            </a:r>
            <a:endParaRPr sz="2600">
              <a:ea typeface="Calibri"/>
              <a:cs typeface="Calibri"/>
            </a:endParaRPr>
          </a:p>
          <a:p>
            <a:pPr>
              <a:defRPr sz="2000"/>
            </a:pPr>
            <a:r>
              <a:rPr sz="2600" dirty="0"/>
              <a:t>Support decisions with dashboards &amp; OLAP cubes</a:t>
            </a:r>
            <a:endParaRPr sz="26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BI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defRPr sz="2000"/>
            </a:pPr>
            <a:r>
              <a:rPr sz="2800" b="1" dirty="0">
                <a:solidFill>
                  <a:schemeClr val="tx2"/>
                </a:solidFill>
              </a:rPr>
              <a:t>Data Flow:</a:t>
            </a:r>
          </a:p>
          <a:p>
            <a:pPr marL="0" indent="0">
              <a:buNone/>
              <a:defRPr sz="2000"/>
            </a:pPr>
            <a:endParaRPr lang="en-US" sz="2800" b="1" dirty="0">
              <a:solidFill>
                <a:schemeClr val="tx2"/>
              </a:solidFill>
              <a:ea typeface="Calibri"/>
              <a:cs typeface="Calibri"/>
            </a:endParaRPr>
          </a:p>
          <a:p>
            <a:pPr marL="400050" lvl="1" indent="0">
              <a:buNone/>
              <a:defRPr sz="2000"/>
            </a:pPr>
            <a:r>
              <a:rPr sz="2400" dirty="0"/>
              <a:t>1. Data Sources →</a:t>
            </a:r>
            <a:endParaRPr sz="2400" dirty="0">
              <a:ea typeface="Calibri"/>
              <a:cs typeface="Calibri"/>
            </a:endParaRPr>
          </a:p>
          <a:p>
            <a:pPr marL="400050" lvl="1" indent="0">
              <a:buNone/>
              <a:defRPr sz="2000"/>
            </a:pPr>
            <a:r>
              <a:rPr sz="2400" dirty="0"/>
              <a:t>2. ETL Process →</a:t>
            </a:r>
            <a:endParaRPr sz="2400" dirty="0">
              <a:ea typeface="Calibri"/>
              <a:cs typeface="Calibri"/>
            </a:endParaRPr>
          </a:p>
          <a:p>
            <a:pPr marL="400050" lvl="1" indent="0">
              <a:buNone/>
              <a:defRPr sz="2000"/>
            </a:pPr>
            <a:r>
              <a:rPr sz="2400" dirty="0"/>
              <a:t>3. Data Warehouse (Star Schema) →</a:t>
            </a:r>
            <a:endParaRPr sz="2400" dirty="0">
              <a:ea typeface="Calibri"/>
              <a:cs typeface="Calibri"/>
            </a:endParaRPr>
          </a:p>
          <a:p>
            <a:pPr marL="400050" lvl="1" indent="0">
              <a:buNone/>
              <a:defRPr sz="2000"/>
            </a:pPr>
            <a:r>
              <a:rPr sz="2400" dirty="0"/>
              <a:t>4. OLAP Cubes →</a:t>
            </a:r>
            <a:endParaRPr sz="2400" dirty="0">
              <a:ea typeface="Calibri"/>
              <a:cs typeface="Calibri"/>
            </a:endParaRPr>
          </a:p>
          <a:p>
            <a:pPr marL="400050" lvl="1" indent="0">
              <a:buNone/>
              <a:defRPr sz="2000"/>
            </a:pPr>
            <a:r>
              <a:rPr sz="2400" dirty="0"/>
              <a:t>5. Dashboards &amp; Reports</a:t>
            </a:r>
            <a:endParaRPr sz="24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defRPr sz="2000"/>
            </a:pPr>
            <a:r>
              <a:rPr sz="2800" b="1" dirty="0">
                <a:solidFill>
                  <a:schemeClr val="tx2"/>
                </a:solidFill>
              </a:rPr>
              <a:t>Operational Data: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sz="2400" dirty="0"/>
              <a:t>- Sales transactions (dine-in, pickup, delivery)</a:t>
            </a:r>
            <a:endParaRPr sz="2400" dirty="0">
              <a:ea typeface="Calibri"/>
              <a:cs typeface="Calibri"/>
            </a:endParaRPr>
          </a:p>
          <a:p>
            <a:pPr marL="0" indent="0">
              <a:buNone/>
              <a:defRPr sz="2000"/>
            </a:pPr>
            <a:r>
              <a:rPr lang="en-US" sz="2400" dirty="0"/>
              <a:t>	</a:t>
            </a:r>
            <a:r>
              <a:rPr sz="2400" dirty="0"/>
              <a:t>- Employee performance &amp; schedules</a:t>
            </a:r>
            <a:endParaRPr sz="2400" dirty="0">
              <a:ea typeface="Calibri"/>
              <a:cs typeface="Calibri"/>
            </a:endParaRPr>
          </a:p>
          <a:p>
            <a:pPr marL="0" indent="0">
              <a:buNone/>
              <a:defRPr sz="2000"/>
            </a:pPr>
            <a:r>
              <a:rPr lang="en-US" sz="2400" dirty="0"/>
              <a:t>	</a:t>
            </a:r>
            <a:r>
              <a:rPr sz="2400" dirty="0"/>
              <a:t>- Inventory/stock levels</a:t>
            </a:r>
            <a:endParaRPr sz="2400" dirty="0">
              <a:ea typeface="Calibri"/>
              <a:cs typeface="Calibri"/>
            </a:endParaRPr>
          </a:p>
          <a:p>
            <a:pPr>
              <a:defRPr sz="2000"/>
            </a:pPr>
            <a:r>
              <a:rPr sz="2800" b="1" dirty="0">
                <a:solidFill>
                  <a:schemeClr val="tx2"/>
                </a:solidFill>
              </a:rPr>
              <a:t>External Data:</a:t>
            </a:r>
            <a:endParaRPr sz="2800" b="1" dirty="0">
              <a:solidFill>
                <a:schemeClr val="tx2"/>
              </a:solidFill>
              <a:ea typeface="Calibri"/>
              <a:cs typeface="Calibri"/>
            </a:endParaRP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sz="2400" dirty="0"/>
              <a:t>- Weather data (affects delivery demand)</a:t>
            </a:r>
            <a:endParaRPr sz="2400" dirty="0">
              <a:ea typeface="Calibri"/>
              <a:cs typeface="Calibri"/>
            </a:endParaRPr>
          </a:p>
          <a:p>
            <a:pPr marL="0" indent="0">
              <a:buNone/>
              <a:defRPr sz="2000"/>
            </a:pPr>
            <a:r>
              <a:rPr lang="en-US" sz="2400" dirty="0"/>
              <a:t>	</a:t>
            </a:r>
            <a:r>
              <a:rPr sz="2400" dirty="0"/>
              <a:t>- Public holidays (affect dine-in demand)</a:t>
            </a:r>
            <a:endParaRPr sz="2400" dirty="0">
              <a:ea typeface="Calibri"/>
              <a:cs typeface="Calibri"/>
            </a:endParaRPr>
          </a:p>
          <a:p>
            <a:pPr marL="0" indent="0">
              <a:buNone/>
              <a:defRPr sz="2000"/>
            </a:pPr>
            <a:r>
              <a:rPr lang="en-US" sz="2400" dirty="0"/>
              <a:t>	</a:t>
            </a:r>
            <a:r>
              <a:rPr sz="2400" dirty="0"/>
              <a:t>- Competitor pricing/promotions</a:t>
            </a:r>
            <a:endParaRPr sz="2400" dirty="0">
              <a:ea typeface="Calibri"/>
              <a:cs typeface="Calibri"/>
            </a:endParaRPr>
          </a:p>
          <a:p>
            <a:pPr marL="0" indent="0">
              <a:buNone/>
              <a:defRPr sz="2000"/>
            </a:pPr>
            <a:r>
              <a:rPr lang="en-US" sz="2400" dirty="0"/>
              <a:t>	</a:t>
            </a:r>
            <a:r>
              <a:rPr sz="2400" dirty="0"/>
              <a:t>- Traffic data (affects delivery times)</a:t>
            </a:r>
            <a:endParaRPr sz="24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876" y="145242"/>
            <a:ext cx="5929222" cy="1229264"/>
          </a:xfrm>
        </p:spPr>
        <p:txBody>
          <a:bodyPr>
            <a:normAutofit fontScale="90000"/>
          </a:bodyPr>
          <a:lstStyle/>
          <a:p>
            <a:r>
              <a:rPr dirty="0"/>
              <a:t>ETL </a:t>
            </a:r>
            <a:r>
              <a:rPr lang="en-US" dirty="0"/>
              <a:t>Process &amp; Warehouse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030" y="1384540"/>
            <a:ext cx="6633714" cy="64407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 sz="2000"/>
            </a:pPr>
            <a:r>
              <a:rPr lang="en-US" sz="2800" b="1" dirty="0">
                <a:solidFill>
                  <a:schemeClr val="accent1">
                    <a:lumMod val="76000"/>
                  </a:schemeClr>
                </a:solidFill>
              </a:rPr>
              <a:t>ETL Process: Extract → Transform → Load</a:t>
            </a:r>
            <a:endParaRPr lang="en-US" sz="2800" b="1">
              <a:solidFill>
                <a:schemeClr val="accent1">
                  <a:lumMod val="76000"/>
                </a:schemeClr>
              </a:solidFill>
              <a:ea typeface="Calibri"/>
              <a:cs typeface="Calibri"/>
            </a:endParaRPr>
          </a:p>
          <a:p>
            <a:pPr marL="0" indent="0">
              <a:buNone/>
              <a:defRPr sz="2000"/>
            </a:pPr>
            <a:endParaRPr sz="2800" dirty="0">
              <a:solidFill>
                <a:schemeClr val="accent5">
                  <a:lumMod val="76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E492634E-E404-288D-591C-69B6B11D8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896" y="1527"/>
            <a:ext cx="2909979" cy="1104002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B90EDD-0739-C0E1-C50A-61A6CCF6D326}"/>
              </a:ext>
            </a:extLst>
          </p:cNvPr>
          <p:cNvSpPr txBox="1">
            <a:spLocks/>
          </p:cNvSpPr>
          <p:nvPr/>
        </p:nvSpPr>
        <p:spPr>
          <a:xfrm>
            <a:off x="198408" y="2031520"/>
            <a:ext cx="5727938" cy="465536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/>
            </a:pPr>
            <a:r>
              <a:rPr lang="en-US" sz="2400" dirty="0"/>
              <a:t>Data Warehouse: Star Schema with Fact &amp; Dimension Tables</a:t>
            </a:r>
            <a:endParaRPr lang="en-US" sz="2400" dirty="0">
              <a:ea typeface="Calibri"/>
              <a:cs typeface="Calibri"/>
            </a:endParaRPr>
          </a:p>
          <a:p>
            <a:pPr>
              <a:defRPr sz="2000"/>
            </a:pPr>
            <a:r>
              <a:rPr lang="en-US" sz="2400" dirty="0"/>
              <a:t>Fact Tables: </a:t>
            </a:r>
            <a:r>
              <a:rPr lang="en-US" sz="2400" dirty="0" err="1"/>
              <a:t>Fact_Sales</a:t>
            </a:r>
            <a:endParaRPr lang="en-US" sz="2400" dirty="0" err="1">
              <a:ea typeface="Calibri"/>
              <a:cs typeface="Calibri"/>
            </a:endParaRPr>
          </a:p>
          <a:p>
            <a:pPr>
              <a:defRPr sz="2000"/>
            </a:pPr>
            <a:r>
              <a:rPr lang="en-US" sz="2400" dirty="0"/>
              <a:t>Dimensions: </a:t>
            </a:r>
            <a:endParaRPr lang="en-US" sz="2400" dirty="0" err="1">
              <a:ea typeface="Calibri"/>
              <a:cs typeface="Calibri"/>
            </a:endParaRPr>
          </a:p>
          <a:p>
            <a:pPr marL="0" indent="0">
              <a:buFont typeface="Arial"/>
              <a:buNone/>
              <a:defRPr sz="2000"/>
            </a:pPr>
            <a:r>
              <a:rPr lang="en-US" sz="2400" dirty="0"/>
              <a:t>   -</a:t>
            </a:r>
            <a:r>
              <a:rPr lang="en-US" sz="2400" dirty="0" err="1"/>
              <a:t>DimCustomer</a:t>
            </a:r>
            <a:endParaRPr lang="en-US" sz="2400" dirty="0" err="1">
              <a:ea typeface="Calibri"/>
              <a:cs typeface="Calibri"/>
            </a:endParaRPr>
          </a:p>
          <a:p>
            <a:pPr marL="0" indent="0">
              <a:buFont typeface="Arial"/>
              <a:buNone/>
              <a:defRPr sz="2000"/>
            </a:pPr>
            <a:r>
              <a:rPr lang="en-US" sz="2400" dirty="0"/>
              <a:t>   -</a:t>
            </a:r>
            <a:r>
              <a:rPr lang="en-US" sz="2400" dirty="0" err="1"/>
              <a:t>DimEmployee</a:t>
            </a:r>
            <a:endParaRPr lang="en-US" sz="2400" dirty="0" err="1">
              <a:ea typeface="Calibri"/>
              <a:cs typeface="Calibri"/>
            </a:endParaRPr>
          </a:p>
          <a:p>
            <a:pPr marL="0" indent="0">
              <a:buFont typeface="Arial"/>
              <a:buNone/>
              <a:defRPr sz="2000"/>
            </a:pPr>
            <a:r>
              <a:rPr lang="en-US" sz="2400" dirty="0"/>
              <a:t>   -</a:t>
            </a:r>
            <a:r>
              <a:rPr lang="en-US" sz="2400" dirty="0" err="1"/>
              <a:t>DimBranch</a:t>
            </a:r>
            <a:endParaRPr lang="en-US" sz="2400" dirty="0" err="1">
              <a:ea typeface="Calibri"/>
              <a:cs typeface="Calibri"/>
            </a:endParaRPr>
          </a:p>
          <a:p>
            <a:pPr marL="0" indent="0">
              <a:buFont typeface="Arial"/>
              <a:buNone/>
              <a:defRPr sz="2000"/>
            </a:pPr>
            <a:r>
              <a:rPr lang="en-US" sz="2400" dirty="0"/>
              <a:t>   -</a:t>
            </a:r>
            <a:r>
              <a:rPr lang="en-US" sz="2400" dirty="0" err="1"/>
              <a:t>DimProduct</a:t>
            </a:r>
            <a:endParaRPr lang="en-US" sz="2400" dirty="0" err="1">
              <a:ea typeface="Calibri"/>
              <a:cs typeface="Calibri"/>
            </a:endParaRPr>
          </a:p>
          <a:p>
            <a:pPr marL="0" indent="0">
              <a:buFont typeface="Arial"/>
              <a:buNone/>
              <a:defRPr sz="2000"/>
            </a:pPr>
            <a:r>
              <a:rPr lang="en-US" sz="2400" dirty="0"/>
              <a:t>   -</a:t>
            </a:r>
            <a:r>
              <a:rPr lang="en-US" sz="2400" dirty="0" err="1"/>
              <a:t>DimDate</a:t>
            </a:r>
            <a:endParaRPr lang="en-US" sz="2400" dirty="0" err="1">
              <a:ea typeface="Calibri"/>
              <a:cs typeface="Calibri"/>
            </a:endParaRPr>
          </a:p>
          <a:p>
            <a:pPr marL="0" indent="0">
              <a:buFont typeface="Arial"/>
              <a:buNone/>
              <a:defRPr sz="2000"/>
            </a:pPr>
            <a:r>
              <a:rPr lang="en-US" sz="2400" dirty="0"/>
              <a:t>   -</a:t>
            </a:r>
            <a:r>
              <a:rPr lang="en-US" sz="2400" dirty="0" err="1"/>
              <a:t>DimTime</a:t>
            </a:r>
            <a:endParaRPr lang="en-US" sz="2400" dirty="0" err="1">
              <a:ea typeface="Calibri"/>
              <a:cs typeface="Calibri"/>
            </a:endParaRPr>
          </a:p>
          <a:p>
            <a:pPr marL="0" indent="0">
              <a:buFont typeface="Arial"/>
              <a:buNone/>
              <a:defRPr sz="2000"/>
            </a:pPr>
            <a:r>
              <a:rPr lang="en-US" sz="2400" dirty="0">
                <a:ea typeface="Calibri"/>
                <a:cs typeface="Calibri"/>
              </a:rPr>
              <a:t>   ​-Dim Competitor</a:t>
            </a:r>
            <a:endParaRPr lang="en-US" sz="2400">
              <a:ea typeface="Calibri"/>
              <a:cs typeface="Calibri"/>
            </a:endParaRPr>
          </a:p>
          <a:p>
            <a:pPr>
              <a:defRPr sz="2000"/>
            </a:pPr>
            <a:endParaRPr lang="en-US" sz="2400" dirty="0">
              <a:ea typeface="Calibri"/>
              <a:cs typeface="Calibri"/>
            </a:endParaRPr>
          </a:p>
        </p:txBody>
      </p:sp>
      <p:pic>
        <p:nvPicPr>
          <p:cNvPr id="11" name="Picture 10" descr="A logo for a software company&#10;&#10;AI-generated content may be incorrect.">
            <a:extLst>
              <a:ext uri="{FF2B5EF4-FFF2-40B4-BE49-F238E27FC236}">
                <a16:creationId xmlns:a16="http://schemas.microsoft.com/office/drawing/2014/main" id="{8B305E9C-E053-24E3-2578-17E85EDFB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0977" y="1478352"/>
            <a:ext cx="2044461" cy="11120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52EB1-F60E-4B08-1FC1-3A9859D16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ACB3E01-00D6-327A-F7E3-F315D771412A}"/>
              </a:ext>
            </a:extLst>
          </p:cNvPr>
          <p:cNvSpPr txBox="1">
            <a:spLocks/>
          </p:cNvSpPr>
          <p:nvPr/>
        </p:nvSpPr>
        <p:spPr>
          <a:xfrm>
            <a:off x="198407" y="1468"/>
            <a:ext cx="5929222" cy="12292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ETL Process &amp; Warehouse</a:t>
            </a:r>
          </a:p>
        </p:txBody>
      </p:sp>
      <p:pic>
        <p:nvPicPr>
          <p:cNvPr id="13" name="Picture 12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E6DFEA61-0F8B-8644-97E0-546561B7C7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76" t="7400" r="23735" b="13173"/>
          <a:stretch>
            <a:fillRect/>
          </a:stretch>
        </p:blipFill>
        <p:spPr>
          <a:xfrm>
            <a:off x="3362041" y="1711254"/>
            <a:ext cx="5526766" cy="3989729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926ACE-64A2-6C87-BCF0-D738E55C94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0109" b="508"/>
          <a:stretch>
            <a:fillRect/>
          </a:stretch>
        </p:blipFill>
        <p:spPr>
          <a:xfrm>
            <a:off x="521180" y="1709830"/>
            <a:ext cx="2286005" cy="400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491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90423" y="188374"/>
            <a:ext cx="5167224" cy="1042359"/>
          </a:xfrm>
        </p:spPr>
        <p:txBody>
          <a:bodyPr/>
          <a:lstStyle/>
          <a:p>
            <a:r>
              <a:rPr sz="4000" dirty="0"/>
              <a:t>OLAP Cubes</a:t>
            </a:r>
            <a:r>
              <a:rPr lang="en-US" sz="4000" dirty="0"/>
              <a:t>(SSAS)</a:t>
            </a:r>
            <a:endParaRPr lang="en-US" sz="4000" dirty="0"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9767" y="2204050"/>
            <a:ext cx="4017032" cy="406588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  <a:defRPr sz="2000"/>
            </a:pPr>
            <a:r>
              <a:rPr lang="en-US" sz="2800" dirty="0"/>
              <a:t>            Measures</a:t>
            </a:r>
            <a:r>
              <a:rPr sz="2800" dirty="0"/>
              <a:t>:</a:t>
            </a:r>
            <a:endParaRPr lang="en-US" sz="2800" dirty="0">
              <a:ea typeface="Calibri"/>
              <a:cs typeface="Calibri"/>
            </a:endParaRPr>
          </a:p>
          <a:p>
            <a:pPr marL="0" indent="0">
              <a:buNone/>
              <a:defRPr sz="2000"/>
            </a:pPr>
            <a:endParaRPr lang="en-US" sz="2400" dirty="0">
              <a:ea typeface="Calibri"/>
              <a:cs typeface="Calibri"/>
            </a:endParaRPr>
          </a:p>
          <a:p>
            <a:pPr>
              <a:defRPr sz="2000"/>
            </a:pPr>
            <a:r>
              <a:rPr lang="en-US" sz="2400" dirty="0">
                <a:ea typeface="Calibri"/>
                <a:cs typeface="Calibri"/>
              </a:rPr>
              <a:t>Average Competitor Price</a:t>
            </a:r>
          </a:p>
          <a:p>
            <a:pPr>
              <a:defRPr sz="2000"/>
            </a:pPr>
            <a:r>
              <a:rPr lang="en-US" sz="2400" dirty="0">
                <a:ea typeface="Calibri"/>
                <a:cs typeface="Calibri"/>
              </a:rPr>
              <a:t>Average Competitor Feedbacks</a:t>
            </a:r>
          </a:p>
          <a:p>
            <a:pPr>
              <a:defRPr sz="2000"/>
            </a:pPr>
            <a:r>
              <a:rPr lang="en-US" sz="2400" dirty="0">
                <a:ea typeface="Calibri"/>
                <a:cs typeface="Calibri"/>
              </a:rPr>
              <a:t>Average Delivery Time</a:t>
            </a:r>
          </a:p>
          <a:p>
            <a:pPr>
              <a:defRPr sz="2000"/>
            </a:pPr>
            <a:r>
              <a:rPr lang="en-US" sz="2400" dirty="0">
                <a:ea typeface="Calibri"/>
                <a:cs typeface="Calibri"/>
              </a:rPr>
              <a:t>Sales Growth%</a:t>
            </a:r>
          </a:p>
          <a:p>
            <a:pPr>
              <a:defRPr sz="2000"/>
            </a:pPr>
            <a:r>
              <a:rPr lang="en-US" sz="2400" dirty="0">
                <a:ea typeface="Calibri"/>
                <a:cs typeface="Calibri"/>
              </a:rPr>
              <a:t>Average Stock Level</a:t>
            </a:r>
          </a:p>
          <a:p>
            <a:pPr>
              <a:defRPr sz="2000"/>
            </a:pPr>
            <a:r>
              <a:rPr lang="en-US" sz="2400" dirty="0">
                <a:ea typeface="Calibri"/>
                <a:cs typeface="Calibri"/>
              </a:rPr>
              <a:t>Average Order Values</a:t>
            </a:r>
          </a:p>
          <a:p>
            <a:pPr>
              <a:defRPr sz="2000"/>
            </a:pPr>
            <a:r>
              <a:rPr lang="en-US" sz="2400" dirty="0">
                <a:ea typeface="Calibri"/>
                <a:cs typeface="Calibri"/>
              </a:rPr>
              <a:t>Sales Today</a:t>
            </a:r>
          </a:p>
          <a:p>
            <a:pPr marL="0" indent="0">
              <a:buNone/>
              <a:defRPr sz="2000"/>
            </a:pPr>
            <a:endParaRPr lang="en-US" dirty="0">
              <a:ea typeface="Calibri"/>
              <a:cs typeface="Calibri"/>
            </a:endParaRPr>
          </a:p>
          <a:p>
            <a:pPr>
              <a:defRPr sz="2000"/>
            </a:pPr>
            <a:endParaRPr lang="en-US" dirty="0">
              <a:ea typeface="Calibri"/>
              <a:cs typeface="Calibri"/>
            </a:endParaRPr>
          </a:p>
          <a:p>
            <a:pPr>
              <a:defRPr sz="2000"/>
            </a:pPr>
            <a:endParaRPr lang="en-US" dirty="0">
              <a:ea typeface="Calibri"/>
              <a:cs typeface="Calibri"/>
            </a:endParaRPr>
          </a:p>
        </p:txBody>
      </p:sp>
      <p:pic>
        <p:nvPicPr>
          <p:cNvPr id="7" name="Picture 6" descr="A close-up of a logo&#10;&#10;AI-generated content may be incorrect.">
            <a:extLst>
              <a:ext uri="{FF2B5EF4-FFF2-40B4-BE49-F238E27FC236}">
                <a16:creationId xmlns:a16="http://schemas.microsoft.com/office/drawing/2014/main" id="{2A837DE1-AEDB-82B1-7183-0BB7E4E42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275" y="-4328"/>
            <a:ext cx="3657600" cy="12477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B1BC8D-38AF-70D4-2A1D-9832959DC5AB}"/>
              </a:ext>
            </a:extLst>
          </p:cNvPr>
          <p:cNvSpPr txBox="1"/>
          <p:nvPr/>
        </p:nvSpPr>
        <p:spPr>
          <a:xfrm>
            <a:off x="4306956" y="283265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AFC364-0017-5319-80D2-3415D5ADE697}"/>
              </a:ext>
            </a:extLst>
          </p:cNvPr>
          <p:cNvSpPr txBox="1"/>
          <p:nvPr/>
        </p:nvSpPr>
        <p:spPr>
          <a:xfrm>
            <a:off x="5673306" y="2208362"/>
            <a:ext cx="2743200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cs typeface="Arial"/>
              </a:rPr>
              <a:t>    Dimensions: </a:t>
            </a:r>
          </a:p>
          <a:p>
            <a:endParaRPr lang="en-US" sz="2800" dirty="0">
              <a:ea typeface="Calibri"/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ea typeface="Calibri"/>
                <a:cs typeface="Arial"/>
              </a:rPr>
              <a:t>Branch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ea typeface="Calibri"/>
                <a:cs typeface="Arial"/>
              </a:rPr>
              <a:t>Competitors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ea typeface="Calibri"/>
                <a:cs typeface="Arial"/>
              </a:rPr>
              <a:t>Customer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ea typeface="Calibri"/>
                <a:cs typeface="Arial"/>
              </a:rPr>
              <a:t>Date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ea typeface="Calibri"/>
                <a:cs typeface="Arial"/>
              </a:rPr>
              <a:t>Time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ea typeface="Calibri"/>
                <a:cs typeface="Arial"/>
              </a:rPr>
              <a:t>Employee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ea typeface="Calibri"/>
                <a:cs typeface="Arial"/>
              </a:rPr>
              <a:t>Weather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F1EB77-B831-7AA5-363E-528FF1713CDA}"/>
              </a:ext>
            </a:extLst>
          </p:cNvPr>
          <p:cNvSpPr txBox="1"/>
          <p:nvPr/>
        </p:nvSpPr>
        <p:spPr>
          <a:xfrm>
            <a:off x="310675" y="1242079"/>
            <a:ext cx="518616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6000"/>
                  </a:schemeClr>
                </a:solidFill>
                <a:ea typeface="Calibri"/>
                <a:cs typeface="Calibri"/>
              </a:rPr>
              <a:t>Sales Performance OLAP Cube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C2EBFF0-42F1-F8F1-0A07-6CCCF89A6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388" y="2445619"/>
            <a:ext cx="5929222" cy="12292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76000"/>
                  </a:schemeClr>
                </a:solidFill>
              </a:rPr>
              <a:t>DASHBOARD</a:t>
            </a:r>
            <a:endParaRPr lang="en-US" b="1" dirty="0">
              <a:solidFill>
                <a:schemeClr val="accent1">
                  <a:lumMod val="76000"/>
                </a:schemeClr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57695-B296-3E5A-EC2D-2ED09535B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A41C4-AF00-1946-AE31-ED28AEAFF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804" y="1469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/>
              <a:t>Future Sales Decisions</a:t>
            </a:r>
            <a:endParaRPr lang="en-US" sz="400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FBBE3-46B0-E390-18EB-4E3C4BC51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654" y="2261559"/>
            <a:ext cx="8977222" cy="383585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defRPr sz="2000"/>
            </a:pPr>
            <a:r>
              <a:rPr lang="en-US" sz="2800" b="1" dirty="0">
                <a:ea typeface="+mn-lt"/>
                <a:cs typeface="+mn-lt"/>
              </a:rPr>
              <a:t>Win Customers</a:t>
            </a:r>
            <a:r>
              <a:rPr lang="en-US" sz="2800" dirty="0">
                <a:ea typeface="+mn-lt"/>
                <a:cs typeface="+mn-lt"/>
              </a:rPr>
              <a:t> → Loyalty programs &amp; offers </a:t>
            </a:r>
            <a:endParaRPr lang="en-US" sz="2800" dirty="0">
              <a:ea typeface="Calibri"/>
              <a:cs typeface="Calibri"/>
            </a:endParaRPr>
          </a:p>
          <a:p>
            <a:pPr>
              <a:defRPr sz="2000"/>
            </a:pPr>
            <a:r>
              <a:rPr lang="en-US" sz="2800" b="1" dirty="0">
                <a:ea typeface="+mn-lt"/>
                <a:cs typeface="+mn-lt"/>
              </a:rPr>
              <a:t>Boost Delivery</a:t>
            </a:r>
            <a:r>
              <a:rPr lang="en-US" sz="2800" dirty="0">
                <a:ea typeface="+mn-lt"/>
                <a:cs typeface="+mn-lt"/>
              </a:rPr>
              <a:t> → Faster, promote online orders</a:t>
            </a:r>
            <a:endParaRPr lang="en-US" dirty="0">
              <a:ea typeface="Calibri"/>
              <a:cs typeface="Calibri"/>
            </a:endParaRPr>
          </a:p>
          <a:p>
            <a:pPr>
              <a:defRPr sz="2000"/>
            </a:pPr>
            <a:r>
              <a:rPr lang="en-US" sz="2800" b="1" dirty="0">
                <a:ea typeface="+mn-lt"/>
                <a:cs typeface="+mn-lt"/>
              </a:rPr>
              <a:t>Branch Focus</a:t>
            </a:r>
            <a:r>
              <a:rPr lang="en-US" sz="2800" dirty="0">
                <a:ea typeface="+mn-lt"/>
                <a:cs typeface="+mn-lt"/>
              </a:rPr>
              <a:t> → Begin support branches Jaffna &amp; Kalutara</a:t>
            </a:r>
            <a:endParaRPr lang="en-US">
              <a:ea typeface="Calibri"/>
              <a:cs typeface="Calibri"/>
            </a:endParaRPr>
          </a:p>
          <a:p>
            <a:pPr>
              <a:defRPr sz="2000"/>
            </a:pPr>
            <a:r>
              <a:rPr lang="en-US" sz="2800" b="1" dirty="0">
                <a:ea typeface="+mn-lt"/>
                <a:cs typeface="+mn-lt"/>
              </a:rPr>
              <a:t>Smart Workforce</a:t>
            </a:r>
            <a:r>
              <a:rPr lang="en-US" sz="2800" dirty="0">
                <a:ea typeface="+mn-lt"/>
                <a:cs typeface="+mn-lt"/>
              </a:rPr>
              <a:t> → Balance staff hours</a:t>
            </a:r>
            <a:endParaRPr lang="en-US">
              <a:ea typeface="Calibri"/>
              <a:cs typeface="Calibri"/>
            </a:endParaRPr>
          </a:p>
          <a:p>
            <a:pPr>
              <a:defRPr sz="2000"/>
            </a:pPr>
            <a:r>
              <a:rPr lang="en-US" sz="2800" b="1" dirty="0">
                <a:ea typeface="+mn-lt"/>
                <a:cs typeface="+mn-lt"/>
              </a:rPr>
              <a:t>Cut Wastage</a:t>
            </a:r>
            <a:r>
              <a:rPr lang="en-US" sz="2800" dirty="0">
                <a:ea typeface="+mn-lt"/>
                <a:cs typeface="+mn-lt"/>
              </a:rPr>
              <a:t> → Better stock control</a:t>
            </a:r>
            <a:endParaRPr lang="en-US">
              <a:ea typeface="Calibri"/>
              <a:cs typeface="Calibri"/>
            </a:endParaRPr>
          </a:p>
          <a:p>
            <a:pPr>
              <a:defRPr sz="2000"/>
            </a:pPr>
            <a:r>
              <a:rPr lang="en-US" sz="2800" b="1" dirty="0">
                <a:ea typeface="+mn-lt"/>
                <a:cs typeface="+mn-lt"/>
              </a:rPr>
              <a:t>Growth Target</a:t>
            </a:r>
            <a:r>
              <a:rPr lang="en-US" sz="2800" dirty="0">
                <a:ea typeface="+mn-lt"/>
                <a:cs typeface="+mn-lt"/>
              </a:rPr>
              <a:t> → Aim 5–10% yearly increase</a:t>
            </a:r>
            <a:endParaRPr lang="en-US" dirty="0"/>
          </a:p>
          <a:p>
            <a:pPr marL="0" indent="0">
              <a:buNone/>
              <a:defRPr sz="2000"/>
            </a:pPr>
            <a:endParaRPr lang="en-US" sz="2800" dirty="0">
              <a:solidFill>
                <a:schemeClr val="tx2"/>
              </a:solidFill>
              <a:ea typeface="Calibri"/>
              <a:cs typeface="Calibri"/>
            </a:endParaRPr>
          </a:p>
          <a:p>
            <a:pPr marL="0" indent="0">
              <a:buNone/>
              <a:defRPr sz="2000"/>
            </a:pPr>
            <a:br>
              <a:rPr lang="en-US" sz="2800" dirty="0">
                <a:solidFill>
                  <a:schemeClr val="tx2"/>
                </a:solidFill>
                <a:ea typeface="Calibri"/>
                <a:cs typeface="Calibri"/>
              </a:rPr>
            </a:br>
            <a:endParaRPr lang="en-US" sz="2800" dirty="0">
              <a:solidFill>
                <a:schemeClr val="tx2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0559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7B32265-B7DE-92C2-0AC8-458ABC00C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388" y="2445619"/>
            <a:ext cx="5929222" cy="12292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76000"/>
                  </a:schemeClr>
                </a:solidFill>
              </a:rPr>
              <a:t>THANK YOU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411</Words>
  <Application>Microsoft Office PowerPoint</Application>
  <PresentationFormat>On-screen Show (4:3)</PresentationFormat>
  <Paragraphs>59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Business Intelligence Framework for Sales Performance</vt:lpstr>
      <vt:lpstr>Introduction</vt:lpstr>
      <vt:lpstr>Objectives</vt:lpstr>
      <vt:lpstr>BI Framework</vt:lpstr>
      <vt:lpstr>Data Sources</vt:lpstr>
      <vt:lpstr>ETL Process &amp; Warehouse</vt:lpstr>
      <vt:lpstr>PowerPoint Presentation</vt:lpstr>
      <vt:lpstr>OLAP Cubes(SSAS)</vt:lpstr>
      <vt:lpstr>DASHBOARD</vt:lpstr>
      <vt:lpstr>Future Sales Decisions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Sanuji Weerasinghe</cp:lastModifiedBy>
  <cp:revision>387</cp:revision>
  <dcterms:created xsi:type="dcterms:W3CDTF">2013-01-27T09:14:16Z</dcterms:created>
  <dcterms:modified xsi:type="dcterms:W3CDTF">2025-09-01T03:16:30Z</dcterms:modified>
  <cp:category/>
</cp:coreProperties>
</file>